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83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822960"/>
            <a:ext cx="1920240" cy="192024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3" name="Image 0" descr="/home/claude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898" y="1283818"/>
            <a:ext cx="998525" cy="9985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6 · JAVASCRIPT DOM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6974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el árbol DOM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3794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moverse entre elementos relacionados de una página web usando JavaScript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4617720"/>
            <a:ext cx="502920" cy="41148"/>
          </a:xfrm>
          <a:prstGeom prst="rect">
            <a:avLst/>
          </a:prstGeom>
          <a:solidFill>
            <a:srgbClr val="F0DB4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754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DOM?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4767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01368"/>
            <a:ext cx="5010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= Document Object Model.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0779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761488"/>
            <a:ext cx="5010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el HTML como un árbol de nodos.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6791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721608"/>
            <a:ext cx="5010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puede leer, modificar y recorrer esos nodos.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2803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681728"/>
            <a:ext cx="5010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etiqueta HTML se convierte en un objeto manipulable.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→ Árbol DOM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242316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1B2735"/>
          </a:solidFill>
          <a:ln w="15875">
            <a:solidFill>
              <a:srgbClr val="6B74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423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2880360"/>
            <a:ext cx="9144" cy="32004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20040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1B2735"/>
          </a:solidFill>
          <a:ln w="15875">
            <a:solidFill>
              <a:srgbClr val="6B74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3200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flipH="1">
            <a:off x="7680960" y="3657600"/>
            <a:ext cx="1371600" cy="36576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3657600"/>
            <a:ext cx="1371600" cy="36576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402336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5875">
            <a:solidFill>
              <a:srgbClr val="F0DB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023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84080" y="402336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5875">
            <a:solidFill>
              <a:srgbClr val="F0DB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0" y="4023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H="1">
            <a:off x="7315200" y="4480560"/>
            <a:ext cx="365760" cy="36576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4480560"/>
            <a:ext cx="365760" cy="36576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484632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5875">
            <a:solidFill>
              <a:srgbClr val="D8DB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846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484632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5875">
            <a:solidFill>
              <a:srgbClr val="D8DB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4846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&lt;span&gt;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5440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etiqueta = un nodo (objeto) del árbol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nodo?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4767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01368"/>
            <a:ext cx="5010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nodo es cualquier objeto que forma parte del árbol DOM.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0779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761488"/>
            <a:ext cx="5010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un elemento (&lt;p&gt;), un texto, o un comentario.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6791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721608"/>
            <a:ext cx="5010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elemento HTML es un nodo, pero no todo nodo es un elemento.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2803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681728"/>
            <a:ext cx="5010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representa cada nodo como un objeto con propiedades.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elemento y sus nodos hijos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242316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1B2735"/>
          </a:solidFill>
          <a:ln w="15875">
            <a:solidFill>
              <a:srgbClr val="6B74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4231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7589520" y="2926080"/>
            <a:ext cx="914400" cy="68580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2926080"/>
            <a:ext cx="1188720" cy="68580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361188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F5F6F8"/>
          </a:solidFill>
          <a:ln w="15875">
            <a:solidFill>
              <a:srgbClr val="9BA3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611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 mundo"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0" y="361188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F5F6F8"/>
          </a:solidFill>
          <a:ln w="15875">
            <a:solidFill>
              <a:srgbClr val="9BA3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3611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nota --&gt;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4434840"/>
            <a:ext cx="146304" cy="146304"/>
          </a:xfrm>
          <a:prstGeom prst="ellipse">
            <a:avLst/>
          </a:prstGeom>
          <a:solidFill>
            <a:srgbClr val="1B2735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43616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de elemento — una etiqueta HTML (&lt;p&gt;, &lt;div&gt;...)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0" y="4818888"/>
            <a:ext cx="146304" cy="146304"/>
          </a:xfrm>
          <a:prstGeom prst="ellipse">
            <a:avLst/>
          </a:prstGeom>
          <a:solidFill>
            <a:srgbClr val="9BA3AF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47457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de texto — el contenido dentro de una etiqueta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5202936"/>
            <a:ext cx="146304" cy="146304"/>
          </a:xfrm>
          <a:prstGeom prst="ellipse">
            <a:avLst/>
          </a:prstGeom>
          <a:solidFill>
            <a:srgbClr val="9BA3AF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51297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de comentario — anotaciones que no se muestran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66560" y="5532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JavaScript, cada nodo es un objeto con propiedades como nodeType y nodeName.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el árbol DOM?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4767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01368"/>
            <a:ext cx="5010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una relación padre → hijo → hermanos.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0779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761488"/>
            <a:ext cx="5010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crea el árbol al cargar la página.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6791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721608"/>
            <a:ext cx="5010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se mueve entre elementos relacionados.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2803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681728"/>
            <a:ext cx="5010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acceder a información sin buscar toda la página.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entre nodos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242316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1B2735"/>
          </a:solidFill>
          <a:ln w="15875">
            <a:solidFill>
              <a:srgbClr val="6B74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4231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7680960" y="2926080"/>
            <a:ext cx="1371600" cy="82296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2926080"/>
            <a:ext cx="9144" cy="82296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2926080"/>
            <a:ext cx="1371600" cy="82296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374904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F5F6F8"/>
          </a:solidFill>
          <a:ln w="15875">
            <a:solidFill>
              <a:srgbClr val="F0D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749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hijo 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0" y="374904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F5F6F8"/>
          </a:solidFill>
          <a:ln w="15875">
            <a:solidFill>
              <a:srgbClr val="F0DB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749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hijo 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84080" y="374904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F5F6F8"/>
          </a:solidFill>
          <a:ln w="15875">
            <a:solidFill>
              <a:srgbClr val="F0DB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0" y="3749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hijo 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80960" y="4251960"/>
            <a:ext cx="9144" cy="274320"/>
          </a:xfrm>
          <a:prstGeom prst="line">
            <a:avLst/>
          </a:prstGeom>
          <a:noFill/>
          <a:ln w="19050">
            <a:solidFill>
              <a:srgbClr val="D8DB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4526280"/>
            <a:ext cx="3108960" cy="0"/>
          </a:xfrm>
          <a:prstGeom prst="line">
            <a:avLst/>
          </a:prstGeom>
          <a:noFill/>
          <a:ln w="19050">
            <a:solidFill>
              <a:srgbClr val="D8DBE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040880" y="4617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hermanos (mismo nivel)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5257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padre → hijo → hermanos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5623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arma este árbol automáticamente al cargar la página.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Propiedad: parentElement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55648"/>
            <a:ext cx="50109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el elemento padre del elemento actual.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7063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624328"/>
            <a:ext cx="50109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 subir un nivel en el árbol.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493008"/>
            <a:ext cx="50109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modificar contenedores o formularios.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1B2735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5303520"/>
            <a:ext cx="4901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btn = document.querySelector('button');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console.log(btn.parentElement);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33172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1B2735"/>
          </a:solidFill>
          <a:ln w="15875">
            <a:solidFill>
              <a:srgbClr val="6B74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class="card"&gt;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469880" y="3154680"/>
            <a:ext cx="502920" cy="50292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6" name="Image 0" descr="/home/claude/icons/arrow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0581" y="3275381"/>
            <a:ext cx="261518" cy="26151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9052560" y="2926080"/>
            <a:ext cx="9144" cy="960120"/>
          </a:xfrm>
          <a:prstGeom prst="line">
            <a:avLst/>
          </a:prstGeom>
          <a:noFill/>
          <a:ln w="19050">
            <a:solidFill>
              <a:srgbClr val="F0DB4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38160" y="388620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F5F6F8"/>
          </a:solidFill>
          <a:ln w="25400">
            <a:solidFill>
              <a:srgbClr val="F0DB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76656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parentElement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949440" y="51663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botón, sube y obtiene la tarjeta que lo contiene.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Propiedad: children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55648"/>
            <a:ext cx="50109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todos los hijos elementos de un nodo.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7063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624328"/>
            <a:ext cx="50109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contar elementos y recorrer listas.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493008"/>
            <a:ext cx="50109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 espacios ni texto, solo etiquetas HTML.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1B2735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5303520"/>
            <a:ext cx="4901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lista = document.querySelector('.lista');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console.log(lista.children);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28600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1B2735"/>
          </a:solidFill>
          <a:ln w="15875">
            <a:solidFill>
              <a:srgbClr val="6B74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 class="lista"&gt;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H="1">
            <a:off x="7315200" y="2788920"/>
            <a:ext cx="1005840" cy="594360"/>
          </a:xfrm>
          <a:prstGeom prst="line">
            <a:avLst/>
          </a:prstGeom>
          <a:noFill/>
          <a:ln w="19050">
            <a:solidFill>
              <a:srgbClr val="F0DB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2788920"/>
            <a:ext cx="9144" cy="594360"/>
          </a:xfrm>
          <a:prstGeom prst="line">
            <a:avLst/>
          </a:prstGeom>
          <a:noFill/>
          <a:ln w="19050">
            <a:solidFill>
              <a:srgbClr val="F0DB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0" y="2788920"/>
            <a:ext cx="1005840" cy="594360"/>
          </a:xfrm>
          <a:prstGeom prst="line">
            <a:avLst/>
          </a:prstGeom>
          <a:noFill/>
          <a:ln w="19050">
            <a:solidFill>
              <a:srgbClr val="F0DB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338328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25400">
            <a:solidFill>
              <a:srgbClr val="F0DB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383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0" y="338328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25400">
            <a:solidFill>
              <a:srgbClr val="F0D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3383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49840" y="338328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25400">
            <a:solidFill>
              <a:srgbClr val="F0DB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9840" y="3383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&lt;li&gt;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41080" y="4069080"/>
            <a:ext cx="502920" cy="50292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25" name="Image 0" descr="/home/claude/icons/list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781" y="4189781"/>
            <a:ext cx="261518" cy="26151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6656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858000" y="5257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los 3 elementos &lt;li&gt; como una colección, sin texto ni espacios.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Propiedad: nextElementSibling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55648"/>
            <a:ext cx="50109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el siguiente hermano elemento.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7063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624328"/>
            <a:ext cx="50109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avanzar entre elementos relacionados.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493008"/>
            <a:ext cx="50109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útil en menús, tablas y tarjetas de productos.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1B2735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5303520"/>
            <a:ext cx="4901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item = document.querySelector('.item');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console.log(item.nextElementSibling);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3108960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F5F6F8"/>
          </a:solidFill>
          <a:ln w="25400">
            <a:solidFill>
              <a:srgbClr val="F0DB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1089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58200" y="3200400"/>
            <a:ext cx="411480" cy="41148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6" name="Image 0" descr="/home/claude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55" y="3299155"/>
            <a:ext cx="213970" cy="21397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9144000" y="3108960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1B2735"/>
          </a:solidFill>
          <a:ln w="15875">
            <a:solidFill>
              <a:srgbClr val="6B74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0" y="31089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siguiente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698480" y="3108960"/>
            <a:ext cx="640080" cy="548640"/>
          </a:xfrm>
          <a:prstGeom prst="roundRect">
            <a:avLst>
              <a:gd name="adj" fmla="val 11667"/>
            </a:avLst>
          </a:prstGeom>
          <a:solidFill>
            <a:srgbClr val="EDEFF2"/>
          </a:solidFill>
          <a:ln w="15875">
            <a:solidFill>
              <a:srgbClr val="D8DB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98480" y="3108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76656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nextElementSibling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0" y="45262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 de un elemento al que está justo después, al mismo nivel.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los valores null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4767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01368"/>
            <a:ext cx="5010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elemento no tiene padre, parentElement puede ser null.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642616"/>
            <a:ext cx="5010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hijo de una lista no tiene siguiente hermano: nextElementSibling también da null.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630168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483864"/>
            <a:ext cx="5010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una propiedad null (por ejemplo null.style) detiene el programa con un error.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471416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325112"/>
            <a:ext cx="5010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conviene comprobar el valor antes de usarlo.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532120"/>
            <a:ext cx="5303520" cy="512064"/>
          </a:xfrm>
          <a:prstGeom prst="roundRect">
            <a:avLst>
              <a:gd name="adj" fmla="val 10714"/>
            </a:avLst>
          </a:prstGeom>
          <a:solidFill>
            <a:srgbClr val="1B2735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5623560"/>
            <a:ext cx="490118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(item.nextElementSibling) { ... }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9224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elemento no tiene siguiente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2743200"/>
            <a:ext cx="1234440" cy="502920"/>
          </a:xfrm>
          <a:prstGeom prst="roundRect">
            <a:avLst>
              <a:gd name="adj" fmla="val 12727"/>
            </a:avLst>
          </a:prstGeom>
          <a:solidFill>
            <a:srgbClr val="F5F6F8"/>
          </a:solidFill>
          <a:ln w="25400">
            <a:solidFill>
              <a:srgbClr val="F0DB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7432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2834640"/>
            <a:ext cx="320040" cy="32004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9" name="Image 0" descr="/home/claude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970" y="2911450"/>
            <a:ext cx="166421" cy="166421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595360" y="2743200"/>
            <a:ext cx="1234440" cy="502920"/>
          </a:xfrm>
          <a:prstGeom prst="roundRect">
            <a:avLst>
              <a:gd name="adj" fmla="val 12727"/>
            </a:avLst>
          </a:prstGeom>
          <a:solidFill>
            <a:srgbClr val="F5F6F8"/>
          </a:solidFill>
          <a:ln w="25400">
            <a:solidFill>
              <a:srgbClr val="F0DB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0" y="27432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966960" y="2834640"/>
            <a:ext cx="320040" cy="32004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23" name="Image 1" descr="/home/claude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770" y="2911450"/>
            <a:ext cx="166421" cy="166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10424160" y="2743200"/>
            <a:ext cx="1005840" cy="502920"/>
          </a:xfrm>
          <a:prstGeom prst="roundRect">
            <a:avLst>
              <a:gd name="adj" fmla="val 12727"/>
            </a:avLst>
          </a:prstGeom>
          <a:solidFill>
            <a:srgbClr val="F5F6F8"/>
          </a:solidFill>
          <a:ln w="25400">
            <a:solidFill>
              <a:srgbClr val="F0DB4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0424160" y="27432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3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10927080" y="3246120"/>
            <a:ext cx="9144" cy="457200"/>
          </a:xfrm>
          <a:prstGeom prst="line">
            <a:avLst/>
          </a:prstGeom>
          <a:noFill/>
          <a:ln w="19050">
            <a:solidFill>
              <a:srgbClr val="E0554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287000" y="3703320"/>
            <a:ext cx="1234440" cy="548640"/>
          </a:xfrm>
          <a:prstGeom prst="roundRect">
            <a:avLst>
              <a:gd name="adj" fmla="val 11667"/>
            </a:avLst>
          </a:prstGeom>
          <a:solidFill>
            <a:srgbClr val="E0554F"/>
          </a:solidFill>
          <a:ln w="15875">
            <a:solidFill>
              <a:srgbClr val="6B748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287000" y="37033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812280" y="3657600"/>
            <a:ext cx="640080" cy="640080"/>
          </a:xfrm>
          <a:prstGeom prst="ellipse">
            <a:avLst/>
          </a:prstGeom>
          <a:solidFill>
            <a:srgbClr val="E0554F"/>
          </a:solidFill>
          <a:ln/>
        </p:spPr>
      </p:sp>
      <p:pic>
        <p:nvPicPr>
          <p:cNvPr id="30" name="Image 2" descr="/home/claude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899" y="3811219"/>
            <a:ext cx="332842" cy="33284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812280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item3.nextElementSibling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766560" y="48006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da un error automático, pero devuelve null. Si luego se hace null.algo, ahí sí falla el script.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principales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4602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6" name="Image 0" descr="/home/claude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26435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9456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rápida entre elementos relacionados.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26480" y="20116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244602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0" name="Image 1" descr="/home/claude/icons/b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310" y="26435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219456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uso repetitivo de querySelector.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1148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454914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4" name="Image 2" descr="/home/claude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474665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74520" y="429768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más ordenado y reutilizable.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26480" y="41148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0" y="454914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8" name="Image 3" descr="/home/claude/icons/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310" y="4746650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360" y="429768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todos los navegadores modernos.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46020"/>
            <a:ext cx="822960" cy="82296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6" name="Image 0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26435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9456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organización del código.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26480" y="20116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2446020"/>
            <a:ext cx="822960" cy="82296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0" name="Image 1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6435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219456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formularios, tablas y listas dinámicas.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1148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4549140"/>
            <a:ext cx="822960" cy="82296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4" name="Image 2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474665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74520" y="429768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interfaces más interactivas.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26480" y="41148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0" y="4549140"/>
            <a:ext cx="822960" cy="82296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8" name="Image 3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4746650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360" y="429768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cantidad de búsquedas en el documento.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46020"/>
            <a:ext cx="822960" cy="822960"/>
          </a:xfrm>
          <a:prstGeom prst="ellipse">
            <a:avLst/>
          </a:prstGeom>
          <a:solidFill>
            <a:srgbClr val="E0554F"/>
          </a:solidFill>
          <a:ln/>
        </p:spPr>
      </p:sp>
      <p:pic>
        <p:nvPicPr>
          <p:cNvPr id="6" name="Image 0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26435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9456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confuso en estructuras HTML muy grandes.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26480" y="20116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2446020"/>
            <a:ext cx="822960" cy="822960"/>
          </a:xfrm>
          <a:prstGeom prst="ellipse">
            <a:avLst/>
          </a:prstGeom>
          <a:solidFill>
            <a:srgbClr val="E0554F"/>
          </a:solidFill>
          <a:ln/>
        </p:spPr>
      </p:sp>
      <p:pic>
        <p:nvPicPr>
          <p:cNvPr id="10" name="Image 1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6435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219456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cambia la estructura del HTML, el código puede fallar.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1148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4549140"/>
            <a:ext cx="822960" cy="822960"/>
          </a:xfrm>
          <a:prstGeom prst="ellipse">
            <a:avLst/>
          </a:prstGeom>
          <a:solidFill>
            <a:srgbClr val="E0554F"/>
          </a:solidFill>
          <a:ln/>
        </p:spPr>
      </p:sp>
      <p:pic>
        <p:nvPicPr>
          <p:cNvPr id="14" name="Image 2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474665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74520" y="429768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comprender bien las relaciones del DOM.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26480" y="41148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0" y="4549140"/>
            <a:ext cx="822960" cy="822960"/>
          </a:xfrm>
          <a:prstGeom prst="ellipse">
            <a:avLst/>
          </a:prstGeom>
          <a:solidFill>
            <a:srgbClr val="E0554F"/>
          </a:solidFill>
          <a:ln/>
        </p:spPr>
      </p:sp>
      <p:pic>
        <p:nvPicPr>
          <p:cNvPr id="18" name="Image 3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4746650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360" y="429768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uso excesivo puede dificultar el mantenimiento.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55648"/>
            <a:ext cx="50109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con tres párrafos; parrafo2 es el punto de referencia.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414016"/>
            <a:ext cx="50109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botones disparan una función cada uno y resaltan el resultado.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072384"/>
            <a:ext cx="50109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se repite siempre: obtener el elemento y aplicar una clase.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303520" cy="1755648"/>
          </a:xfrm>
          <a:prstGeom prst="roundRect">
            <a:avLst>
              <a:gd name="adj" fmla="val 3125"/>
            </a:avLst>
          </a:prstGeom>
          <a:solidFill>
            <a:srgbClr val="1B2735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4069080"/>
            <a:ext cx="490118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parrafo2 =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document.getElementById("parrafo2");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parrafo2.parentElement;           // contenedor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parrafo2.previousElementSibling;  // parrafo1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parrafo2.nextElementSibling;      // parrafo3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previa del ejercicio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2331720"/>
            <a:ext cx="4572000" cy="3246120"/>
          </a:xfrm>
          <a:prstGeom prst="roundRect">
            <a:avLst>
              <a:gd name="adj" fmla="val 2254"/>
            </a:avLst>
          </a:prstGeom>
          <a:solidFill>
            <a:srgbClr val="F5F6F8"/>
          </a:solidFill>
          <a:ln w="25400">
            <a:solidFill>
              <a:srgbClr val="F0DB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4414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id="contenedor"&gt;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0" y="3108960"/>
            <a:ext cx="12344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B27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1089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parrafo1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92440" y="3360420"/>
            <a:ext cx="365760" cy="9144"/>
          </a:xfrm>
          <a:prstGeom prst="line">
            <a:avLst/>
          </a:prstGeom>
          <a:noFill/>
          <a:ln w="19050">
            <a:solidFill>
              <a:srgbClr val="F0DB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3108960"/>
            <a:ext cx="12344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31750">
            <a:solidFill>
              <a:srgbClr val="F0D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31089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parrafo2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92640" y="3360420"/>
            <a:ext cx="365760" cy="9144"/>
          </a:xfrm>
          <a:prstGeom prst="line">
            <a:avLst/>
          </a:prstGeom>
          <a:noFill/>
          <a:ln w="19050">
            <a:solidFill>
              <a:srgbClr val="F0DB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0" y="3108960"/>
            <a:ext cx="11430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B27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310896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parrafo3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58200" y="280720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referencia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previousElementSibling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55548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nextElementSibling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858000" y="4114800"/>
            <a:ext cx="374904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858000" y="41788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de contenedor → parrafo1, parrafo2, parrafo3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326880" y="5257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parentElement de parrafo2 →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29400" y="5715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botón resalta el resultado con la clase .resaltado.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4602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6" name="Image 0" descr="/home/claude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26435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9456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nombres claros para las variables.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26480" y="20116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244602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0" name="Image 1" descr="/home/claude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310" y="26435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219456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el elemento exista antes de usarlo.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1148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454914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4" name="Image 2" descr="/home/claude/icons/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474665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74520" y="429768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cadenas largas de navegación.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26480" y="41148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0" y="454914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8" name="Image 3" descr="/home/claude/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310" y="4746650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360" y="429768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 el código cuando sea necesario.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reales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4602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6" name="Image 0" descr="/home/claude/icons/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26435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9456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de compras.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26480" y="20116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244602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0" name="Image 1" descr="/home/claude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310" y="26435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219456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formularios.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1148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454914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4" name="Image 2" descr="/home/claude/icons/caret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474665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74520" y="429768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Menús desplegables.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26480" y="41148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0" y="454914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8" name="Image 3" descr="/home/claude/icons/imag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310" y="4746650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360" y="429768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Galerías de imágenes y tablas dinámicas.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el DOM permite moverse entre elementos relacionados, creando páginas dinámicas, rápidas e interactivas — una base clave para JavaScript moderno.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B2735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310896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7" name="Image 0" descr="/home/claude/icons/arrow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750" y="330647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160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parentElement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7091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al elemento padre.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34840" y="27432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B2735"/>
          </a:solidFill>
          <a:ln/>
        </p:spPr>
      </p:sp>
      <p:sp>
        <p:nvSpPr>
          <p:cNvPr id="11" name="Shape 8"/>
          <p:cNvSpPr/>
          <p:nvPr/>
        </p:nvSpPr>
        <p:spPr>
          <a:xfrm>
            <a:off x="5806440" y="310896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2" name="Image 1" descr="/home/claude/icons/list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950" y="330647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4160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09160" y="47091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los hijos directos.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21040" y="27432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B2735"/>
          </a:solidFill>
          <a:ln/>
        </p:spPr>
      </p:sp>
      <p:sp>
        <p:nvSpPr>
          <p:cNvPr id="16" name="Shape 12"/>
          <p:cNvSpPr/>
          <p:nvPr/>
        </p:nvSpPr>
        <p:spPr>
          <a:xfrm>
            <a:off x="9692640" y="3108960"/>
            <a:ext cx="822960" cy="82296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17" name="Image 2" descr="/home/claude/icons/arrow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0150" y="330647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4160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D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nextElementSibling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95360" y="47091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 al siguiente hermano.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2956" y="1554480"/>
            <a:ext cx="1463040" cy="1463040"/>
          </a:xfrm>
          <a:prstGeom prst="ellipse">
            <a:avLst/>
          </a:prstGeom>
          <a:solidFill>
            <a:srgbClr val="F0DB4F"/>
          </a:solidFill>
          <a:ln/>
        </p:spPr>
      </p:sp>
      <p:pic>
        <p:nvPicPr>
          <p:cNvPr id="3" name="Image 0" descr="/home/claude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086" y="1905610"/>
            <a:ext cx="760781" cy="7607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9184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0" y="39776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937</Words>
  <Application>Microsoft Office PowerPoint</Application>
  <PresentationFormat>Panorámica</PresentationFormat>
  <Paragraphs>172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Orozco</cp:lastModifiedBy>
  <cp:revision>2</cp:revision>
  <dcterms:created xsi:type="dcterms:W3CDTF">2026-08-05T18:17:24Z</dcterms:created>
  <dcterms:modified xsi:type="dcterms:W3CDTF">2026-08-05T20:03:56Z</dcterms:modified>
</cp:coreProperties>
</file>